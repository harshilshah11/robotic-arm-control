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72" r:id="rId7"/>
    <p:sldId id="274" r:id="rId8"/>
    <p:sldId id="280" r:id="rId9"/>
    <p:sldId id="277" r:id="rId10"/>
    <p:sldId id="278" r:id="rId11"/>
    <p:sldId id="279" r:id="rId12"/>
    <p:sldId id="281" r:id="rId13"/>
    <p:sldId id="275" r:id="rId14"/>
    <p:sldId id="265" r:id="rId15"/>
    <p:sldId id="260" r:id="rId16"/>
    <p:sldId id="266" r:id="rId17"/>
    <p:sldId id="267" r:id="rId18"/>
    <p:sldId id="276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Ti 0008" userId="431183c1b7f532c3" providerId="LiveId" clId="{23048CEA-A310-4F71-B673-B6CD7CDC9C83}"/>
    <pc:docChg chg="undo redo custSel addSld modSld sldOrd">
      <pc:chgData name="KETi 0008" userId="431183c1b7f532c3" providerId="LiveId" clId="{23048CEA-A310-4F71-B673-B6CD7CDC9C83}" dt="2026-04-07T07:36:28.989" v="260" actId="1076"/>
      <pc:docMkLst>
        <pc:docMk/>
      </pc:docMkLst>
      <pc:sldChg chg="modSp mod">
        <pc:chgData name="KETi 0008" userId="431183c1b7f532c3" providerId="LiveId" clId="{23048CEA-A310-4F71-B673-B6CD7CDC9C83}" dt="2026-03-06T10:03:02.877" v="91" actId="20577"/>
        <pc:sldMkLst>
          <pc:docMk/>
          <pc:sldMk cId="4049574852" sldId="256"/>
        </pc:sldMkLst>
      </pc:sldChg>
      <pc:sldChg chg="addSp delSp modSp mod">
        <pc:chgData name="KETi 0008" userId="431183c1b7f532c3" providerId="LiveId" clId="{23048CEA-A310-4F71-B673-B6CD7CDC9C83}" dt="2026-03-06T10:11:34.060" v="146" actId="1076"/>
        <pc:sldMkLst>
          <pc:docMk/>
          <pc:sldMk cId="4229341146" sldId="259"/>
        </pc:sldMkLst>
      </pc:sldChg>
      <pc:sldChg chg="modSp">
        <pc:chgData name="KETi 0008" userId="431183c1b7f532c3" providerId="LiveId" clId="{23048CEA-A310-4F71-B673-B6CD7CDC9C83}" dt="2026-04-07T07:25:33.615" v="204"/>
        <pc:sldMkLst>
          <pc:docMk/>
          <pc:sldMk cId="114001142" sldId="261"/>
        </pc:sldMkLst>
        <pc:spChg chg="mod">
          <ac:chgData name="KETi 0008" userId="431183c1b7f532c3" providerId="LiveId" clId="{23048CEA-A310-4F71-B673-B6CD7CDC9C83}" dt="2026-04-07T07:25:33.615" v="204"/>
          <ac:spMkLst>
            <pc:docMk/>
            <pc:sldMk cId="114001142" sldId="261"/>
            <ac:spMk id="3" creationId="{1D7F03F9-E289-5B8B-2407-FB9AC6F50A6D}"/>
          </ac:spMkLst>
        </pc:spChg>
      </pc:sldChg>
      <pc:sldChg chg="modSp mod">
        <pc:chgData name="KETi 0008" userId="431183c1b7f532c3" providerId="LiveId" clId="{23048CEA-A310-4F71-B673-B6CD7CDC9C83}" dt="2026-03-05T09:11:41.073" v="63" actId="207"/>
        <pc:sldMkLst>
          <pc:docMk/>
          <pc:sldMk cId="2676267917" sldId="268"/>
        </pc:sldMkLst>
      </pc:sldChg>
      <pc:sldChg chg="addSp delSp modSp add mod">
        <pc:chgData name="KETi 0008" userId="431183c1b7f532c3" providerId="LiveId" clId="{23048CEA-A310-4F71-B673-B6CD7CDC9C83}" dt="2026-04-07T07:29:50.822" v="241" actId="20577"/>
        <pc:sldMkLst>
          <pc:docMk/>
          <pc:sldMk cId="372350542" sldId="272"/>
        </pc:sldMkLst>
        <pc:spChg chg="del mod">
          <ac:chgData name="KETi 0008" userId="431183c1b7f532c3" providerId="LiveId" clId="{23048CEA-A310-4F71-B673-B6CD7CDC9C83}" dt="2026-04-07T07:23:39.493" v="172"/>
          <ac:spMkLst>
            <pc:docMk/>
            <pc:sldMk cId="372350542" sldId="272"/>
            <ac:spMk id="3" creationId="{44EAC74C-086F-757D-FD94-80F5864CA0A4}"/>
          </ac:spMkLst>
        </pc:spChg>
        <pc:spChg chg="mod">
          <ac:chgData name="KETi 0008" userId="431183c1b7f532c3" providerId="LiveId" clId="{23048CEA-A310-4F71-B673-B6CD7CDC9C83}" dt="2026-04-07T07:29:50.822" v="241" actId="20577"/>
          <ac:spMkLst>
            <pc:docMk/>
            <pc:sldMk cId="372350542" sldId="272"/>
            <ac:spMk id="4" creationId="{D60247C1-20FE-0406-7390-ECD8EB2AECA8}"/>
          </ac:spMkLst>
        </pc:spChg>
        <pc:spChg chg="add">
          <ac:chgData name="KETi 0008" userId="431183c1b7f532c3" providerId="LiveId" clId="{23048CEA-A310-4F71-B673-B6CD7CDC9C83}" dt="2026-04-07T07:19:02.938" v="157"/>
          <ac:spMkLst>
            <pc:docMk/>
            <pc:sldMk cId="372350542" sldId="272"/>
            <ac:spMk id="6" creationId="{0A3A502E-2E7C-6801-0E34-266E6465F5E3}"/>
          </ac:spMkLst>
        </pc:spChg>
        <pc:spChg chg="add">
          <ac:chgData name="KETi 0008" userId="431183c1b7f532c3" providerId="LiveId" clId="{23048CEA-A310-4F71-B673-B6CD7CDC9C83}" dt="2026-04-07T07:23:30.946" v="167"/>
          <ac:spMkLst>
            <pc:docMk/>
            <pc:sldMk cId="372350542" sldId="272"/>
            <ac:spMk id="8" creationId="{ACCE420B-A327-4954-0337-4A2C2BA39F20}"/>
          </ac:spMkLst>
        </pc:spChg>
        <pc:spChg chg="add">
          <ac:chgData name="KETi 0008" userId="431183c1b7f532c3" providerId="LiveId" clId="{23048CEA-A310-4F71-B673-B6CD7CDC9C83}" dt="2026-04-07T07:23:37.134" v="170"/>
          <ac:spMkLst>
            <pc:docMk/>
            <pc:sldMk cId="372350542" sldId="272"/>
            <ac:spMk id="9" creationId="{BC7BF42F-B506-D797-C768-7A5629AF21D2}"/>
          </ac:spMkLst>
        </pc:spChg>
        <pc:spChg chg="add del mod">
          <ac:chgData name="KETi 0008" userId="431183c1b7f532c3" providerId="LiveId" clId="{23048CEA-A310-4F71-B673-B6CD7CDC9C83}" dt="2026-04-07T07:23:59.814" v="181" actId="478"/>
          <ac:spMkLst>
            <pc:docMk/>
            <pc:sldMk cId="372350542" sldId="272"/>
            <ac:spMk id="10" creationId="{1A064AB9-2603-BA60-C229-5E37B7ED8F5B}"/>
          </ac:spMkLst>
        </pc:spChg>
        <pc:spChg chg="add">
          <ac:chgData name="KETi 0008" userId="431183c1b7f532c3" providerId="LiveId" clId="{23048CEA-A310-4F71-B673-B6CD7CDC9C83}" dt="2026-04-07T07:23:49.798" v="174"/>
          <ac:spMkLst>
            <pc:docMk/>
            <pc:sldMk cId="372350542" sldId="272"/>
            <ac:spMk id="11" creationId="{7ADF592A-00F9-E1B4-CFAE-DD6841DF7B1B}"/>
          </ac:spMkLst>
        </pc:spChg>
        <pc:spChg chg="add">
          <ac:chgData name="KETi 0008" userId="431183c1b7f532c3" providerId="LiveId" clId="{23048CEA-A310-4F71-B673-B6CD7CDC9C83}" dt="2026-04-07T07:23:55.475" v="178"/>
          <ac:spMkLst>
            <pc:docMk/>
            <pc:sldMk cId="372350542" sldId="272"/>
            <ac:spMk id="12" creationId="{81503962-DC0F-5A04-9D93-47BF40721DF8}"/>
          </ac:spMkLst>
        </pc:spChg>
        <pc:spChg chg="add">
          <ac:chgData name="KETi 0008" userId="431183c1b7f532c3" providerId="LiveId" clId="{23048CEA-A310-4F71-B673-B6CD7CDC9C83}" dt="2026-04-07T07:24:00.176" v="182"/>
          <ac:spMkLst>
            <pc:docMk/>
            <pc:sldMk cId="372350542" sldId="272"/>
            <ac:spMk id="13" creationId="{C41C2D81-71A6-1072-DFDD-E7DE513386A4}"/>
          </ac:spMkLst>
        </pc:spChg>
        <pc:spChg chg="add del mod">
          <ac:chgData name="KETi 0008" userId="431183c1b7f532c3" providerId="LiveId" clId="{23048CEA-A310-4F71-B673-B6CD7CDC9C83}" dt="2026-04-07T07:24:17.041" v="185"/>
          <ac:spMkLst>
            <pc:docMk/>
            <pc:sldMk cId="372350542" sldId="272"/>
            <ac:spMk id="14" creationId="{7E353907-EF49-4373-1CF7-F42FD27F6F26}"/>
          </ac:spMkLst>
        </pc:spChg>
        <pc:spChg chg="add del">
          <ac:chgData name="KETi 0008" userId="431183c1b7f532c3" providerId="LiveId" clId="{23048CEA-A310-4F71-B673-B6CD7CDC9C83}" dt="2026-04-07T07:24:26.473" v="187" actId="11529"/>
          <ac:spMkLst>
            <pc:docMk/>
            <pc:sldMk cId="372350542" sldId="272"/>
            <ac:spMk id="15" creationId="{E3F2B033-3856-E446-82BA-28D3E4FDC6C8}"/>
          </ac:spMkLst>
        </pc:spChg>
        <pc:spChg chg="add del mod">
          <ac:chgData name="KETi 0008" userId="431183c1b7f532c3" providerId="LiveId" clId="{23048CEA-A310-4F71-B673-B6CD7CDC9C83}" dt="2026-04-07T07:24:43.255" v="200" actId="478"/>
          <ac:spMkLst>
            <pc:docMk/>
            <pc:sldMk cId="372350542" sldId="272"/>
            <ac:spMk id="16" creationId="{B3DC0CB5-620C-E0F8-BD51-DF18578A6726}"/>
          </ac:spMkLst>
        </pc:spChg>
        <pc:spChg chg="add del mod">
          <ac:chgData name="KETi 0008" userId="431183c1b7f532c3" providerId="LiveId" clId="{23048CEA-A310-4F71-B673-B6CD7CDC9C83}" dt="2026-04-07T07:24:43.255" v="202"/>
          <ac:spMkLst>
            <pc:docMk/>
            <pc:sldMk cId="372350542" sldId="272"/>
            <ac:spMk id="17" creationId="{D82BEA6E-DF60-D70B-50D9-774BC1DAF1E2}"/>
          </ac:spMkLst>
        </pc:spChg>
        <pc:spChg chg="add mod">
          <ac:chgData name="KETi 0008" userId="431183c1b7f532c3" providerId="LiveId" clId="{23048CEA-A310-4F71-B673-B6CD7CDC9C83}" dt="2026-04-07T07:28:47.168" v="228" actId="1076"/>
          <ac:spMkLst>
            <pc:docMk/>
            <pc:sldMk cId="372350542" sldId="272"/>
            <ac:spMk id="19" creationId="{2A48D263-AEFE-E552-0C19-27C4F96B7964}"/>
          </ac:spMkLst>
        </pc:spChg>
        <pc:picChg chg="add mod">
          <ac:chgData name="KETi 0008" userId="431183c1b7f532c3" providerId="LiveId" clId="{23048CEA-A310-4F71-B673-B6CD7CDC9C83}" dt="2026-04-07T07:28:51.650" v="230" actId="1076"/>
          <ac:picMkLst>
            <pc:docMk/>
            <pc:sldMk cId="372350542" sldId="272"/>
            <ac:picMk id="5" creationId="{C30081F4-B02F-B989-805F-DBD8B4008D58}"/>
          </ac:picMkLst>
        </pc:picChg>
        <pc:picChg chg="del">
          <ac:chgData name="KETi 0008" userId="431183c1b7f532c3" providerId="LiveId" clId="{23048CEA-A310-4F71-B673-B6CD7CDC9C83}" dt="2026-04-07T07:18:25.889" v="153" actId="478"/>
          <ac:picMkLst>
            <pc:docMk/>
            <pc:sldMk cId="372350542" sldId="272"/>
            <ac:picMk id="7" creationId="{F2F9DC99-6B99-8B91-443B-5738551B1CF7}"/>
          </ac:picMkLst>
        </pc:picChg>
      </pc:sldChg>
      <pc:sldChg chg="add">
        <pc:chgData name="KETi 0008" userId="431183c1b7f532c3" providerId="LiveId" clId="{23048CEA-A310-4F71-B673-B6CD7CDC9C83}" dt="2026-04-07T07:17:04.118" v="148" actId="2890"/>
        <pc:sldMkLst>
          <pc:docMk/>
          <pc:sldMk cId="2862049826" sldId="273"/>
        </pc:sldMkLst>
      </pc:sldChg>
      <pc:sldChg chg="addSp delSp modSp add mod">
        <pc:chgData name="KETi 0008" userId="431183c1b7f532c3" providerId="LiveId" clId="{23048CEA-A310-4F71-B673-B6CD7CDC9C83}" dt="2026-04-07T07:29:00.339" v="232" actId="14100"/>
        <pc:sldMkLst>
          <pc:docMk/>
          <pc:sldMk cId="776124708" sldId="274"/>
        </pc:sldMkLst>
        <pc:spChg chg="mod">
          <ac:chgData name="KETi 0008" userId="431183c1b7f532c3" providerId="LiveId" clId="{23048CEA-A310-4F71-B673-B6CD7CDC9C83}" dt="2026-04-07T07:26:19.892" v="213"/>
          <ac:spMkLst>
            <pc:docMk/>
            <pc:sldMk cId="776124708" sldId="274"/>
            <ac:spMk id="3" creationId="{05E36A13-266C-C767-8B51-C715D6BD1787}"/>
          </ac:spMkLst>
        </pc:spChg>
        <pc:spChg chg="mod">
          <ac:chgData name="KETi 0008" userId="431183c1b7f532c3" providerId="LiveId" clId="{23048CEA-A310-4F71-B673-B6CD7CDC9C83}" dt="2026-04-07T07:26:28.645" v="215"/>
          <ac:spMkLst>
            <pc:docMk/>
            <pc:sldMk cId="776124708" sldId="274"/>
            <ac:spMk id="4" creationId="{7A858415-6993-00F8-5198-08372608A03D}"/>
          </ac:spMkLst>
        </pc:spChg>
        <pc:picChg chg="del">
          <ac:chgData name="KETi 0008" userId="431183c1b7f532c3" providerId="LiveId" clId="{23048CEA-A310-4F71-B673-B6CD7CDC9C83}" dt="2026-04-07T07:21:35.840" v="161" actId="478"/>
          <ac:picMkLst>
            <pc:docMk/>
            <pc:sldMk cId="776124708" sldId="274"/>
            <ac:picMk id="5" creationId="{F58F73CD-4159-51FB-32DA-57A9F5759D97}"/>
          </ac:picMkLst>
        </pc:picChg>
        <pc:picChg chg="add mod">
          <ac:chgData name="KETi 0008" userId="431183c1b7f532c3" providerId="LiveId" clId="{23048CEA-A310-4F71-B673-B6CD7CDC9C83}" dt="2026-04-07T07:29:00.339" v="232" actId="14100"/>
          <ac:picMkLst>
            <pc:docMk/>
            <pc:sldMk cId="776124708" sldId="274"/>
            <ac:picMk id="6" creationId="{4C76C965-7945-511E-92DD-035DEAA9A1EC}"/>
          </ac:picMkLst>
        </pc:picChg>
        <pc:picChg chg="add mod">
          <ac:chgData name="KETi 0008" userId="431183c1b7f532c3" providerId="LiveId" clId="{23048CEA-A310-4F71-B673-B6CD7CDC9C83}" dt="2026-04-07T07:26:54.968" v="223" actId="1076"/>
          <ac:picMkLst>
            <pc:docMk/>
            <pc:sldMk cId="776124708" sldId="274"/>
            <ac:picMk id="8" creationId="{55534B44-BA7E-7399-3347-5BA9A39C689C}"/>
          </ac:picMkLst>
        </pc:picChg>
      </pc:sldChg>
      <pc:sldChg chg="addSp delSp modSp add mod ord">
        <pc:chgData name="KETi 0008" userId="431183c1b7f532c3" providerId="LiveId" clId="{23048CEA-A310-4F71-B673-B6CD7CDC9C83}" dt="2026-04-07T07:36:28.989" v="260" actId="1076"/>
        <pc:sldMkLst>
          <pc:docMk/>
          <pc:sldMk cId="2384388557" sldId="275"/>
        </pc:sldMkLst>
        <pc:spChg chg="add">
          <ac:chgData name="KETi 0008" userId="431183c1b7f532c3" providerId="LiveId" clId="{23048CEA-A310-4F71-B673-B6CD7CDC9C83}" dt="2026-04-07T07:33:35.169" v="246"/>
          <ac:spMkLst>
            <pc:docMk/>
            <pc:sldMk cId="2384388557" sldId="275"/>
            <ac:spMk id="2" creationId="{65837B6B-10ED-C46E-16A0-691C3D4EF795}"/>
          </ac:spMkLst>
        </pc:spChg>
        <pc:spChg chg="mod">
          <ac:chgData name="KETi 0008" userId="431183c1b7f532c3" providerId="LiveId" clId="{23048CEA-A310-4F71-B673-B6CD7CDC9C83}" dt="2026-04-07T07:36:28.989" v="260" actId="1076"/>
          <ac:spMkLst>
            <pc:docMk/>
            <pc:sldMk cId="2384388557" sldId="275"/>
            <ac:spMk id="4" creationId="{620C63F5-5AC3-B4E0-CB3D-EC145A6B9A64}"/>
          </ac:spMkLst>
        </pc:spChg>
        <pc:spChg chg="mod">
          <ac:chgData name="KETi 0008" userId="431183c1b7f532c3" providerId="LiveId" clId="{23048CEA-A310-4F71-B673-B6CD7CDC9C83}" dt="2026-04-07T07:36:03.991" v="258" actId="1076"/>
          <ac:spMkLst>
            <pc:docMk/>
            <pc:sldMk cId="2384388557" sldId="275"/>
            <ac:spMk id="19" creationId="{A86384EA-C599-8D92-0DC9-B42F1D524C32}"/>
          </ac:spMkLst>
        </pc:spChg>
        <pc:picChg chg="add del">
          <ac:chgData name="KETi 0008" userId="431183c1b7f532c3" providerId="LiveId" clId="{23048CEA-A310-4F71-B673-B6CD7CDC9C83}" dt="2026-04-07T07:35:19.761" v="250" actId="478"/>
          <ac:picMkLst>
            <pc:docMk/>
            <pc:sldMk cId="2384388557" sldId="275"/>
            <ac:picMk id="5" creationId="{8197F339-B660-14AE-FDAC-8471BB422637}"/>
          </ac:picMkLst>
        </pc:picChg>
        <pc:picChg chg="add mod">
          <ac:chgData name="KETi 0008" userId="431183c1b7f532c3" providerId="LiveId" clId="{23048CEA-A310-4F71-B673-B6CD7CDC9C83}" dt="2026-04-07T07:35:59.558" v="257" actId="1076"/>
          <ac:picMkLst>
            <pc:docMk/>
            <pc:sldMk cId="2384388557" sldId="275"/>
            <ac:picMk id="6" creationId="{45DA3B8F-DE73-A086-E723-3D85D48601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5EDF-723F-EF10-5CF9-BE7C88349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C65D6-78AB-9235-C03F-A04FC62C7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C8F99-BCBD-0C2F-B1D0-516125CD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D3A9F-9A82-6FDF-E19A-75D9EC037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FD5B-3EBC-7A79-91FA-A342CD60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0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C03D-21BA-67F6-F109-F35586D0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9029-6D89-DFCA-5C98-C9AD46437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788F0-5515-0717-F385-A2E292CF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ABE20-0140-E1FE-4D4F-E4EE7BAC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25B56-F540-F4AA-D58F-B6E1765A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112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E7D2-DCC7-B363-E2E5-F2797884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AEDB0-1DC1-816D-B1DF-0FEBEE830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E2CAC-8B9E-BE67-5D9D-DC3670CF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43A2C-62D4-CCBB-0B11-DCACFC37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7FEF2-56D2-2A44-A939-29DF1588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14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2216-9EEE-6F94-CE20-6745F76D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1307A-70BF-3D5C-C4B9-B389DAB32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9C185-00BE-5723-A66E-0600A77C5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B929C-1334-7D21-9C7B-5F24FA3F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C155A-9286-C5A6-D50D-88790CF8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02D80-8148-60E3-4FB5-17A28FE5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4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3647-509E-9294-1F1A-91851FA4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B4244-5D04-5466-9E0A-DFCC0E527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64077-ECDD-8368-0DC2-43E2E2644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6FB54-CECF-EC7E-BD34-1760B0CEE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FD521C-8A97-B303-60BE-B73FDB58F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B6571-AC4F-D68B-A100-CCCFD7D76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34317D-329E-1421-DA87-58317632F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5EA5C7-0881-65CB-E60B-B94150DB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08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5BC5-4568-0751-0478-AFCC70D5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E586A-95FC-9F52-8CBA-86934BE7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8605D-D883-2866-D615-7D5EEC35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6F736-774C-46DD-4AAF-48FF3B15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9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11BE76-4483-5263-A34D-141762B1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A34DE-407C-EDBE-8EA6-6379AD0A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FD6FB-C1F9-CA38-27E7-B2611727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3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F283-393E-9763-C407-B81EB032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1CCC-156B-5FC5-AFCE-49349023A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C4A5E-6213-FB81-99FE-99B5FC660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A4304-419E-FBD8-CF01-37D7C1956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0CA0E-A562-60BA-D48D-33A650192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DA20C-4F5E-D93D-6892-FEFC3C3B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0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E3FB-2949-0C1B-2380-22EB71924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2F261-B5AF-406B-183C-9DC9A7BE3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3763A-EF9F-6BAB-E245-C67E8FE86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AA33F-04E3-8F29-D58B-7B95E6F1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6ED0B-9C89-8F9A-7AC4-AC34CC73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668AC-9629-B64B-FA15-47D2B752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578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561B-0065-403A-FD56-B7BD24DC6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180CA-56F5-0E04-CEA2-65DEFB561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09D50-1EC9-FCCD-E0EC-4087A750A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2316F-A6AF-E050-5628-70D0FE737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FDC82-73DC-6718-5146-FA687B80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67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58A18-B982-1203-DB22-2C59270A7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3A35C-E2FB-D2D1-F5D1-CBFF8280C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386E-6BAD-F3E4-256F-A7D473C2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66065-497B-587F-2750-192CDA28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843B6-75AA-C674-CAF8-43362430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18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4C0BA-2342-69A7-742C-9A79B4E5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5BB09-2235-9D43-90BA-F8DBFCA9D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E249C-DDB0-5124-0EE0-E14D3D4C7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748CC-C867-4C5C-BB26-84CD96C0880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36B63-1816-0061-792D-824A71A98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3560-8240-5602-A394-E4E1F1FE5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C0A95-1DCA-41C2-BFF0-87BBBD9E1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90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ppeliarobotics.com/" TargetMode="External"/><Relationship Id="rId2" Type="http://schemas.openxmlformats.org/officeDocument/2006/relationships/hyperlink" Target="https://niryo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prijenbalar/Robot-Vision" TargetMode="External"/><Relationship Id="rId5" Type="http://schemas.openxmlformats.org/officeDocument/2006/relationships/hyperlink" Target="https://www.youtube.com/watch?v=t5Bo1Je9EmE" TargetMode="External"/><Relationship Id="rId4" Type="http://schemas.openxmlformats.org/officeDocument/2006/relationships/hyperlink" Target="https://automaticaddison.com/the-ultimate-guide-to-inverse-kinematics-for-6dof-robot-arms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3086-1AFD-251B-406A-1D79A81C09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7B4E9-96F3-E59D-38F9-6B58844218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8C5F2-9C27-B69F-1100-677205784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846F781-21E0-A621-286B-0863E8056399}"/>
              </a:ext>
            </a:extLst>
          </p:cNvPr>
          <p:cNvSpPr txBox="1">
            <a:spLocks/>
          </p:cNvSpPr>
          <p:nvPr/>
        </p:nvSpPr>
        <p:spPr>
          <a:xfrm>
            <a:off x="3882390" y="152996"/>
            <a:ext cx="442722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US" sz="4000" b="1" dirty="0"/>
              <a:t>ARM O BOT</a:t>
            </a:r>
            <a:endParaRPr lang="en-IN" sz="4000" b="1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BE3D0DE-FD3F-245E-EA6D-C197B3C468F4}"/>
              </a:ext>
            </a:extLst>
          </p:cNvPr>
          <p:cNvSpPr txBox="1">
            <a:spLocks/>
          </p:cNvSpPr>
          <p:nvPr/>
        </p:nvSpPr>
        <p:spPr>
          <a:xfrm>
            <a:off x="8136890" y="4673808"/>
            <a:ext cx="6051550" cy="21236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 u="sng">
                <a:solidFill>
                  <a:srgbClr val="0462C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Student Name 1 : </a:t>
            </a:r>
            <a:r>
              <a:rPr lang="en-US" sz="2400" dirty="0" err="1">
                <a:solidFill>
                  <a:schemeClr val="bg1"/>
                </a:solidFill>
              </a:rPr>
              <a:t>Prizen</a:t>
            </a:r>
            <a:r>
              <a:rPr lang="en-US" sz="2400" dirty="0">
                <a:solidFill>
                  <a:schemeClr val="bg1"/>
                </a:solidFill>
              </a:rPr>
              <a:t> Balar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Enrollment No.   : 2401151002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Student Name 2 : Ketul Patel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Enrollment No.   : 2401151082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574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023683E-A5C9-E4F6-3A06-26A635925B7B}"/>
              </a:ext>
            </a:extLst>
          </p:cNvPr>
          <p:cNvSpPr txBox="1">
            <a:spLocks/>
          </p:cNvSpPr>
          <p:nvPr/>
        </p:nvSpPr>
        <p:spPr>
          <a:xfrm>
            <a:off x="3385997" y="86602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spc="-10" dirty="0"/>
              <a:t>Introduction </a:t>
            </a:r>
            <a:r>
              <a:rPr lang="en-IN" sz="3200" b="1" dirty="0"/>
              <a:t>–</a:t>
            </a:r>
            <a:r>
              <a:rPr lang="en-IN" sz="3200" b="1" spc="-60" dirty="0"/>
              <a:t> </a:t>
            </a:r>
            <a:r>
              <a:rPr lang="en-IN" sz="3200" b="1" dirty="0"/>
              <a:t>ARM</a:t>
            </a:r>
            <a:r>
              <a:rPr lang="en-IN" sz="3200" b="1" spc="-55" dirty="0"/>
              <a:t> </a:t>
            </a:r>
            <a:r>
              <a:rPr lang="en-IN" sz="3200" b="1" dirty="0"/>
              <a:t>O</a:t>
            </a:r>
            <a:r>
              <a:rPr lang="en-IN" sz="3200" b="1" spc="-45" dirty="0"/>
              <a:t> </a:t>
            </a:r>
            <a:r>
              <a:rPr lang="en-IN" sz="3200" b="1" spc="-25" dirty="0"/>
              <a:t>BOT</a:t>
            </a:r>
            <a:endParaRPr lang="en-IN" sz="3200" b="1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48CD90E-B338-1D14-E502-9DF866821787}"/>
              </a:ext>
            </a:extLst>
          </p:cNvPr>
          <p:cNvSpPr txBox="1"/>
          <p:nvPr/>
        </p:nvSpPr>
        <p:spPr>
          <a:xfrm>
            <a:off x="747572" y="1034193"/>
            <a:ext cx="6269635" cy="13731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117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/>
              <a:t>The aim of this project is to develop a robotic arm control system that can perform pick-and-place operations using saved positions. The system is flexible and can be used with different types of robotic arms.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4B820748-842E-4898-B8DD-960BAE6C35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572" y="2660918"/>
            <a:ext cx="5467350" cy="2828543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595E9D1C-1141-6F66-27D6-3A54F6E57728}"/>
              </a:ext>
            </a:extLst>
          </p:cNvPr>
          <p:cNvSpPr txBox="1"/>
          <p:nvPr/>
        </p:nvSpPr>
        <p:spPr>
          <a:xfrm>
            <a:off x="747572" y="5742990"/>
            <a:ext cx="37318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Fig: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Robotic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pick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100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0B5C2D-0978-2628-7D2A-EE8070E42B99}"/>
              </a:ext>
            </a:extLst>
          </p:cNvPr>
          <p:cNvSpPr txBox="1">
            <a:spLocks/>
          </p:cNvSpPr>
          <p:nvPr/>
        </p:nvSpPr>
        <p:spPr>
          <a:xfrm>
            <a:off x="3267075" y="184924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spc="-10" dirty="0"/>
              <a:t>Methodology</a:t>
            </a:r>
            <a:endParaRPr lang="en-IN" sz="3200" b="1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3C603B0-2CA0-B099-D81E-3CDACE1545A1}"/>
              </a:ext>
            </a:extLst>
          </p:cNvPr>
          <p:cNvSpPr txBox="1"/>
          <p:nvPr/>
        </p:nvSpPr>
        <p:spPr>
          <a:xfrm>
            <a:off x="1003071" y="937865"/>
            <a:ext cx="10185858" cy="45811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project consists of different kinds of domains, such as: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Kinematics and Dynamics: to calculate end-effector trajectory and other manipulation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Forward and reverse kinematics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Dynamics: consists of force and torque measurements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3D Prototyping: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3D modelling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3D printing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Electronics and Communication Systems: for actuation and remote communication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Circuit designing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Microcontroller programming</a:t>
            </a:r>
          </a:p>
        </p:txBody>
      </p:sp>
    </p:spTree>
    <p:extLst>
      <p:ext uri="{BB962C8B-B14F-4D97-AF65-F5344CB8AC3E}">
        <p14:creationId xmlns:p14="http://schemas.microsoft.com/office/powerpoint/2010/main" val="3452246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5DAB0-80B9-638A-1B51-A04F06AA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FF80BD-D106-2270-D0F8-EAF4D353F5DD}"/>
              </a:ext>
            </a:extLst>
          </p:cNvPr>
          <p:cNvSpPr txBox="1">
            <a:spLocks/>
          </p:cNvSpPr>
          <p:nvPr/>
        </p:nvSpPr>
        <p:spPr>
          <a:xfrm>
            <a:off x="3267075" y="285673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Technologies Used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7F03F9-E289-5B8B-2407-FB9AC6F50A6D}"/>
              </a:ext>
            </a:extLst>
          </p:cNvPr>
          <p:cNvSpPr txBox="1"/>
          <p:nvPr/>
        </p:nvSpPr>
        <p:spPr>
          <a:xfrm>
            <a:off x="2147300" y="1233527"/>
            <a:ext cx="4882516" cy="3734356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r>
              <a:rPr lang="en-IN" sz="2000" b="1" dirty="0"/>
              <a:t>Programming</a:t>
            </a:r>
            <a:r>
              <a:rPr lang="en-IN" sz="2000" dirty="0"/>
              <a:t>:</a:t>
            </a:r>
          </a:p>
          <a:p>
            <a:r>
              <a:rPr lang="en-IN" sz="2000" dirty="0"/>
              <a:t>Python API is used for robotic arm manipulation </a:t>
            </a:r>
          </a:p>
          <a:p>
            <a:r>
              <a:rPr lang="en-IN" sz="2000" dirty="0"/>
              <a:t>Python 3.12 </a:t>
            </a:r>
          </a:p>
          <a:p>
            <a:r>
              <a:rPr lang="en-IN" sz="2000" b="1" dirty="0"/>
              <a:t>Microcontroller Programming</a:t>
            </a:r>
            <a:r>
              <a:rPr lang="en-IN" sz="2000" dirty="0"/>
              <a:t>:</a:t>
            </a:r>
          </a:p>
          <a:p>
            <a:r>
              <a:rPr lang="en-IN" sz="2000" dirty="0" err="1"/>
              <a:t>MicroPython</a:t>
            </a:r>
            <a:r>
              <a:rPr lang="en-IN" sz="2000" dirty="0"/>
              <a:t> </a:t>
            </a:r>
          </a:p>
          <a:p>
            <a:r>
              <a:rPr lang="en-IN" sz="2000" dirty="0"/>
              <a:t>ESP32</a:t>
            </a:r>
          </a:p>
          <a:p>
            <a:r>
              <a:rPr lang="en-IN" sz="2000" b="1" dirty="0"/>
              <a:t>Web Technologies</a:t>
            </a:r>
            <a:r>
              <a:rPr lang="en-IN" sz="2000" dirty="0"/>
              <a:t>:</a:t>
            </a:r>
          </a:p>
          <a:p>
            <a:r>
              <a:rPr lang="en-IN" sz="2000" dirty="0"/>
              <a:t>HTML </a:t>
            </a:r>
          </a:p>
          <a:p>
            <a:r>
              <a:rPr lang="en-IN" sz="2000" dirty="0"/>
              <a:t>CSS </a:t>
            </a:r>
          </a:p>
          <a:p>
            <a:r>
              <a:rPr lang="en-IN" sz="2000" dirty="0"/>
              <a:t>JavaScript 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4B122-7DA9-FD3D-76B8-D14014461CA2}"/>
              </a:ext>
            </a:extLst>
          </p:cNvPr>
          <p:cNvSpPr txBox="1"/>
          <p:nvPr/>
        </p:nvSpPr>
        <p:spPr>
          <a:xfrm>
            <a:off x="7029816" y="1233527"/>
            <a:ext cx="34952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Communication</a:t>
            </a:r>
            <a:r>
              <a:rPr lang="en-IN" sz="2000" dirty="0"/>
              <a:t>:</a:t>
            </a:r>
          </a:p>
          <a:p>
            <a:r>
              <a:rPr lang="en-IN" sz="2000" dirty="0"/>
              <a:t>Wi-Fi communication </a:t>
            </a:r>
          </a:p>
          <a:p>
            <a:r>
              <a:rPr lang="en-IN" sz="2000" dirty="0"/>
              <a:t>HTTP requests </a:t>
            </a:r>
          </a:p>
          <a:p>
            <a:r>
              <a:rPr lang="en-IN" sz="2000" b="1" dirty="0"/>
              <a:t>Robotic Arm Control</a:t>
            </a:r>
            <a:r>
              <a:rPr lang="en-IN" sz="2000" dirty="0"/>
              <a:t>:</a:t>
            </a:r>
          </a:p>
          <a:p>
            <a:r>
              <a:rPr lang="en-IN" sz="2000" dirty="0"/>
              <a:t>Servo motor control </a:t>
            </a:r>
          </a:p>
          <a:p>
            <a:r>
              <a:rPr lang="en-IN" sz="2000" dirty="0"/>
              <a:t>Saved position control </a:t>
            </a:r>
          </a:p>
          <a:p>
            <a:r>
              <a:rPr lang="en-IN" sz="2000" dirty="0"/>
              <a:t>Pick-and-place movement logic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4001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EA42C8A-CCAF-1534-BE71-2F994AF52100}"/>
              </a:ext>
            </a:extLst>
          </p:cNvPr>
          <p:cNvSpPr txBox="1">
            <a:spLocks/>
          </p:cNvSpPr>
          <p:nvPr/>
        </p:nvSpPr>
        <p:spPr>
          <a:xfrm>
            <a:off x="3435780" y="154975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DC43D6-FEAE-0DA8-DAA6-DE27AC245F2D}"/>
              </a:ext>
            </a:extLst>
          </p:cNvPr>
          <p:cNvSpPr/>
          <p:nvPr/>
        </p:nvSpPr>
        <p:spPr>
          <a:xfrm>
            <a:off x="5632593" y="1065686"/>
            <a:ext cx="1693718" cy="405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Robot Vision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97E11-15D4-0E7C-20AE-9FB724CDE76F}"/>
              </a:ext>
            </a:extLst>
          </p:cNvPr>
          <p:cNvSpPr/>
          <p:nvPr/>
        </p:nvSpPr>
        <p:spPr>
          <a:xfrm>
            <a:off x="3066037" y="2249134"/>
            <a:ext cx="1693718" cy="4052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Hardware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3BCD4-9DC7-0F85-6E20-8C651C7A8424}"/>
              </a:ext>
            </a:extLst>
          </p:cNvPr>
          <p:cNvSpPr/>
          <p:nvPr/>
        </p:nvSpPr>
        <p:spPr>
          <a:xfrm>
            <a:off x="8199151" y="2249135"/>
            <a:ext cx="1693718" cy="4052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Software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A665BA-0C53-AC84-A519-AC6DAE0F81AD}"/>
              </a:ext>
            </a:extLst>
          </p:cNvPr>
          <p:cNvSpPr/>
          <p:nvPr/>
        </p:nvSpPr>
        <p:spPr>
          <a:xfrm>
            <a:off x="1289259" y="3410137"/>
            <a:ext cx="1693718" cy="51681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Mechanical Design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3F1942-CED1-35DA-6B5C-546E56501C38}"/>
              </a:ext>
            </a:extLst>
          </p:cNvPr>
          <p:cNvSpPr/>
          <p:nvPr/>
        </p:nvSpPr>
        <p:spPr>
          <a:xfrm>
            <a:off x="4570987" y="3456951"/>
            <a:ext cx="1693718" cy="4052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Electronics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F1BD81-C398-88B2-4E15-6D109BF64898}"/>
              </a:ext>
            </a:extLst>
          </p:cNvPr>
          <p:cNvSpPr/>
          <p:nvPr/>
        </p:nvSpPr>
        <p:spPr>
          <a:xfrm>
            <a:off x="9614887" y="3423559"/>
            <a:ext cx="1693718" cy="49244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Frontend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5D45D0-0535-946B-02C2-F58CEB15F796}"/>
              </a:ext>
            </a:extLst>
          </p:cNvPr>
          <p:cNvSpPr/>
          <p:nvPr/>
        </p:nvSpPr>
        <p:spPr>
          <a:xfrm>
            <a:off x="383453" y="4937507"/>
            <a:ext cx="1693718" cy="4052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3D Printing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6BB898-0744-ED23-4A7E-21A046E6ABAD}"/>
              </a:ext>
            </a:extLst>
          </p:cNvPr>
          <p:cNvSpPr/>
          <p:nvPr/>
        </p:nvSpPr>
        <p:spPr>
          <a:xfrm>
            <a:off x="2470979" y="4937506"/>
            <a:ext cx="1693718" cy="4052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3D Design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352F23-408F-3866-E18E-59EF1EC92F00}"/>
              </a:ext>
            </a:extLst>
          </p:cNvPr>
          <p:cNvSpPr/>
          <p:nvPr/>
        </p:nvSpPr>
        <p:spPr>
          <a:xfrm>
            <a:off x="4769312" y="4937505"/>
            <a:ext cx="1693718" cy="91071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Microcontroller and PCB Design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4327AE-C596-A1BE-032C-83FB4742000B}"/>
              </a:ext>
            </a:extLst>
          </p:cNvPr>
          <p:cNvCxnSpPr>
            <a:cxnSpLocks/>
            <a:stCxn id="2" idx="1"/>
            <a:endCxn id="6" idx="0"/>
          </p:cNvCxnSpPr>
          <p:nvPr/>
        </p:nvCxnSpPr>
        <p:spPr>
          <a:xfrm flipH="1">
            <a:off x="3912896" y="1268309"/>
            <a:ext cx="1719697" cy="980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64685D-0944-FB2C-331B-CA8A89D9F78E}"/>
              </a:ext>
            </a:extLst>
          </p:cNvPr>
          <p:cNvCxnSpPr>
            <a:cxnSpLocks/>
            <a:stCxn id="2" idx="3"/>
            <a:endCxn id="7" idx="0"/>
          </p:cNvCxnSpPr>
          <p:nvPr/>
        </p:nvCxnSpPr>
        <p:spPr>
          <a:xfrm>
            <a:off x="7326311" y="1268309"/>
            <a:ext cx="1719699" cy="980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54FA71-2C5C-9500-B438-5413CFED9730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 flipH="1">
            <a:off x="2136118" y="2654379"/>
            <a:ext cx="1776778" cy="755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872DC7-F0F6-CC2A-A33A-BDE014C1CB17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3912896" y="2654379"/>
            <a:ext cx="1504950" cy="802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99F7A2E-CCCA-837A-7984-32DC73167C8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615529" y="2654380"/>
            <a:ext cx="1430481" cy="734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319371-BC13-2F3D-D162-0D616366FA4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046010" y="2654380"/>
            <a:ext cx="1415736" cy="76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D521F53-2E7E-221E-966D-A5619A728B7C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flipH="1">
            <a:off x="1230312" y="3926948"/>
            <a:ext cx="905806" cy="1010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007F1C8-B029-1C27-268D-C0CAF5B38C3D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>
            <a:off x="2136118" y="3926948"/>
            <a:ext cx="1181720" cy="1010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202C3C-4CEC-8DE8-2CCB-45F3DFE67647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5417846" y="3862196"/>
            <a:ext cx="198325" cy="107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8DB34A7-4915-081E-EB05-3C01AFCE7C20}"/>
              </a:ext>
            </a:extLst>
          </p:cNvPr>
          <p:cNvSpPr/>
          <p:nvPr/>
        </p:nvSpPr>
        <p:spPr>
          <a:xfrm>
            <a:off x="6768670" y="3423559"/>
            <a:ext cx="1693718" cy="49244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Inverse Kinematics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341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7788D-AE49-0EC3-9DEB-A9E84F9C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60247C1-20FE-0406-7390-ECD8EB2AECA8}"/>
              </a:ext>
            </a:extLst>
          </p:cNvPr>
          <p:cNvSpPr txBox="1">
            <a:spLocks/>
          </p:cNvSpPr>
          <p:nvPr/>
        </p:nvSpPr>
        <p:spPr>
          <a:xfrm>
            <a:off x="3267075" y="49698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dirty="0"/>
              <a:t>Login Interface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081F4-B02F-B989-805F-DBD8B400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028" y="1541543"/>
            <a:ext cx="4538857" cy="3043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48D263-AEFE-E552-0C19-27C4F96B7964}"/>
              </a:ext>
            </a:extLst>
          </p:cNvPr>
          <p:cNvSpPr txBox="1"/>
          <p:nvPr/>
        </p:nvSpPr>
        <p:spPr>
          <a:xfrm>
            <a:off x="6717333" y="939681"/>
            <a:ext cx="41225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Login Method: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Email and Password Login</a:t>
            </a:r>
            <a:endParaRPr lang="en-IN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/>
              <a:t>Interface Features:</a:t>
            </a:r>
            <a:br>
              <a:rPr lang="en-IN" dirty="0"/>
            </a:br>
            <a:r>
              <a:rPr lang="en-IN" dirty="0"/>
              <a:t>User authentication system</a:t>
            </a:r>
            <a:br>
              <a:rPr lang="en-IN" dirty="0"/>
            </a:br>
            <a:r>
              <a:rPr lang="en-IN" dirty="0"/>
              <a:t>Input: Username &amp; Password</a:t>
            </a:r>
            <a:br>
              <a:rPr lang="en-IN" dirty="0"/>
            </a:br>
            <a:r>
              <a:rPr lang="en-IN" dirty="0" err="1"/>
              <a:t>Password</a:t>
            </a:r>
            <a:r>
              <a:rPr lang="en-IN" dirty="0"/>
              <a:t> visibility toggle (👁️)</a:t>
            </a:r>
            <a:br>
              <a:rPr lang="en-IN" dirty="0"/>
            </a:br>
            <a:r>
              <a:rPr lang="en-IN" dirty="0"/>
              <a:t>Connected to database for verification</a:t>
            </a:r>
            <a:br>
              <a:rPr lang="en-IN" dirty="0"/>
            </a:br>
            <a:r>
              <a:rPr lang="en-IN" dirty="0"/>
              <a:t>Access control for robotic arm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Database (Authentication):</a:t>
            </a:r>
            <a:br>
              <a:rPr lang="en-US" dirty="0"/>
            </a:br>
            <a:r>
              <a:rPr lang="en-US" dirty="0"/>
              <a:t>XAMPP and MySQL are used to store user credentials (username &amp; password).</a:t>
            </a:r>
            <a:br>
              <a:rPr lang="en-US" dirty="0"/>
            </a:br>
            <a:r>
              <a:rPr lang="en-US" dirty="0"/>
              <a:t>Database verifies login details to allow secure access.</a:t>
            </a:r>
            <a:br>
              <a:rPr lang="en-US" dirty="0"/>
            </a:br>
            <a:r>
              <a:rPr lang="en-US" dirty="0"/>
              <a:t>Only authorized users can control the robotic arm system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50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F509C-FD34-1FF7-5A5B-5F455525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858415-6993-00F8-5198-08372608A03D}"/>
              </a:ext>
            </a:extLst>
          </p:cNvPr>
          <p:cNvSpPr txBox="1">
            <a:spLocks/>
          </p:cNvSpPr>
          <p:nvPr/>
        </p:nvSpPr>
        <p:spPr>
          <a:xfrm>
            <a:off x="3267075" y="49698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dirty="0"/>
              <a:t>🤖 Control Dashboard:</a:t>
            </a:r>
            <a:endParaRPr lang="en-IN" sz="3200" b="1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5E36A13-266C-C767-8B51-C715D6BD1787}"/>
              </a:ext>
            </a:extLst>
          </p:cNvPr>
          <p:cNvSpPr txBox="1"/>
          <p:nvPr/>
        </p:nvSpPr>
        <p:spPr>
          <a:xfrm>
            <a:off x="1234266" y="1130697"/>
            <a:ext cx="5507356" cy="4965462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r>
              <a:rPr lang="en-IN" sz="2000" b="1" dirty="0"/>
              <a:t>System Status:</a:t>
            </a:r>
            <a:br>
              <a:rPr lang="en-IN" sz="2000" dirty="0"/>
            </a:br>
            <a:r>
              <a:rPr lang="en-IN" sz="2000" dirty="0"/>
              <a:t>System online/offline indicator</a:t>
            </a:r>
          </a:p>
          <a:p>
            <a:r>
              <a:rPr lang="en-IN" sz="2000" b="1" dirty="0"/>
              <a:t>Axis Control:</a:t>
            </a:r>
            <a:br>
              <a:rPr lang="en-IN" sz="2000" dirty="0"/>
            </a:br>
            <a:r>
              <a:rPr lang="en-IN" sz="2000" dirty="0"/>
              <a:t>3-Axis control (Base, Shoulder, Elbow)</a:t>
            </a:r>
            <a:br>
              <a:rPr lang="en-IN" sz="2000" dirty="0"/>
            </a:br>
            <a:r>
              <a:rPr lang="en-IN" sz="2000" dirty="0"/>
              <a:t>Manual angle input</a:t>
            </a:r>
            <a:br>
              <a:rPr lang="en-IN" sz="2000" dirty="0"/>
            </a:br>
            <a:r>
              <a:rPr lang="en-IN" sz="2000" dirty="0"/>
              <a:t>Apply command button</a:t>
            </a:r>
          </a:p>
          <a:p>
            <a:r>
              <a:rPr lang="en-IN" sz="2000" b="1" dirty="0"/>
              <a:t>Gripper Control:</a:t>
            </a:r>
            <a:br>
              <a:rPr lang="en-IN" sz="2000" dirty="0"/>
            </a:br>
            <a:r>
              <a:rPr lang="en-IN" sz="2000" dirty="0"/>
              <a:t>Open gripper</a:t>
            </a:r>
            <a:br>
              <a:rPr lang="en-IN" sz="2000" dirty="0"/>
            </a:br>
            <a:r>
              <a:rPr lang="en-IN" sz="2000" dirty="0"/>
              <a:t>Close gripper</a:t>
            </a:r>
          </a:p>
          <a:p>
            <a:r>
              <a:rPr lang="en-IN" sz="2000" b="1" dirty="0"/>
              <a:t>Calibration:</a:t>
            </a:r>
            <a:br>
              <a:rPr lang="en-IN" sz="2000" dirty="0"/>
            </a:br>
            <a:r>
              <a:rPr lang="en-IN" sz="2000" dirty="0"/>
              <a:t>Initialize robotic arm position</a:t>
            </a:r>
          </a:p>
          <a:p>
            <a:r>
              <a:rPr lang="en-IN" sz="2000" b="1" dirty="0"/>
              <a:t>Position Memory:</a:t>
            </a:r>
            <a:br>
              <a:rPr lang="en-IN" sz="2000" dirty="0"/>
            </a:br>
            <a:r>
              <a:rPr lang="en-IN" sz="2000" dirty="0"/>
              <a:t>Save Position 1 &amp; 2</a:t>
            </a:r>
            <a:br>
              <a:rPr lang="en-IN" sz="2000" dirty="0"/>
            </a:br>
            <a:r>
              <a:rPr lang="en-IN" sz="2000" dirty="0"/>
              <a:t>Recall saved positions</a:t>
            </a:r>
          </a:p>
          <a:p>
            <a:r>
              <a:rPr lang="en-IN" sz="2000" b="1" dirty="0"/>
              <a:t>Automation:</a:t>
            </a:r>
            <a:br>
              <a:rPr lang="en-IN" sz="2000" dirty="0"/>
            </a:br>
            <a:r>
              <a:rPr lang="en-IN" sz="2000" dirty="0"/>
              <a:t>Execute pick &amp; place operation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76C965-7945-511E-92DD-035DEAA9A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751" y="836299"/>
            <a:ext cx="4290975" cy="2592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534B44-BA7E-7399-3347-5BA9A39C6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751" y="3503458"/>
            <a:ext cx="4290975" cy="25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24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A036-4DF2-CA2B-F712-0897937F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FE8468-B07A-BDCF-CEC1-31EC1359BF8C}"/>
              </a:ext>
            </a:extLst>
          </p:cNvPr>
          <p:cNvSpPr txBox="1">
            <a:spLocks/>
          </p:cNvSpPr>
          <p:nvPr/>
        </p:nvSpPr>
        <p:spPr>
          <a:xfrm>
            <a:off x="3267074" y="666705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Data flow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78505E-2EE0-C117-E389-CF1D8272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410" y="1638678"/>
            <a:ext cx="7811177" cy="26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2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084F0-0167-E7CF-1DD7-5A3561DE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90A705-32ED-A7A8-6820-AFAC2796190C}"/>
              </a:ext>
            </a:extLst>
          </p:cNvPr>
          <p:cNvSpPr txBox="1">
            <a:spLocks/>
          </p:cNvSpPr>
          <p:nvPr/>
        </p:nvSpPr>
        <p:spPr>
          <a:xfrm>
            <a:off x="2914290" y="116099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Activity Diagram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11859F-665B-D596-79DF-49D14615F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688" y="826324"/>
            <a:ext cx="5147055" cy="520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6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1CE19-1164-26BB-5872-B874F7DD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FE3876-C13F-FE88-8A55-5875EA053A50}"/>
              </a:ext>
            </a:extLst>
          </p:cNvPr>
          <p:cNvSpPr txBox="1">
            <a:spLocks/>
          </p:cNvSpPr>
          <p:nvPr/>
        </p:nvSpPr>
        <p:spPr>
          <a:xfrm>
            <a:off x="2914290" y="243918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ER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85C5EB-C9A1-D0F5-1533-AD7925AC4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835" y="902109"/>
            <a:ext cx="6544760" cy="505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56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6657-1273-564D-3A23-1BF76381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1531D4-0461-BAEA-3A5A-9CC5176E0D59}"/>
              </a:ext>
            </a:extLst>
          </p:cNvPr>
          <p:cNvSpPr txBox="1">
            <a:spLocks/>
          </p:cNvSpPr>
          <p:nvPr/>
        </p:nvSpPr>
        <p:spPr>
          <a:xfrm>
            <a:off x="2983116" y="243918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00156F-8903-1A8B-BC96-19A423265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356" y="736361"/>
            <a:ext cx="6683717" cy="587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3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96A43-9AA1-EA78-C473-BBD684ED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DA80F8-7FB8-36FC-CFE5-871F43CBE596}"/>
              </a:ext>
            </a:extLst>
          </p:cNvPr>
          <p:cNvSpPr txBox="1">
            <a:spLocks/>
          </p:cNvSpPr>
          <p:nvPr/>
        </p:nvSpPr>
        <p:spPr>
          <a:xfrm>
            <a:off x="3946677" y="322576"/>
            <a:ext cx="44697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Database Design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0285B-7E55-5296-D615-3D4DD957DC41}"/>
              </a:ext>
            </a:extLst>
          </p:cNvPr>
          <p:cNvSpPr txBox="1">
            <a:spLocks/>
          </p:cNvSpPr>
          <p:nvPr/>
        </p:nvSpPr>
        <p:spPr>
          <a:xfrm>
            <a:off x="3861132" y="2936557"/>
            <a:ext cx="44697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Data Dictionary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79084-24F1-E06B-CCA0-7C51E86A3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040" y="932556"/>
            <a:ext cx="2239009" cy="1033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8ACDF1-25BB-C04D-3F94-A18A40F3A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712" y="3591209"/>
            <a:ext cx="695766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90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47EC4-A508-4D2E-DF5F-F14D5303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0C63F5-5AC3-B4E0-CB3D-EC145A6B9A64}"/>
              </a:ext>
            </a:extLst>
          </p:cNvPr>
          <p:cNvSpPr txBox="1">
            <a:spLocks/>
          </p:cNvSpPr>
          <p:nvPr/>
        </p:nvSpPr>
        <p:spPr>
          <a:xfrm>
            <a:off x="3267075" y="354498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dirty="0"/>
              <a:t>System Flow Diagram</a:t>
            </a:r>
            <a:endParaRPr lang="en-IN" sz="3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6384EA-C599-8D92-0DC9-B42F1D524C32}"/>
              </a:ext>
            </a:extLst>
          </p:cNvPr>
          <p:cNvSpPr txBox="1"/>
          <p:nvPr/>
        </p:nvSpPr>
        <p:spPr>
          <a:xfrm>
            <a:off x="6659650" y="2413336"/>
            <a:ext cx="41225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diagram shows the authentication flow using XAMPP and MySQL.</a:t>
            </a:r>
            <a:br>
              <a:rPr lang="en-US" dirty="0"/>
            </a:br>
            <a:r>
              <a:rPr lang="en-US" dirty="0"/>
              <a:t>User credentials are verified, and only authorized users can access the robotic arm system.</a:t>
            </a:r>
            <a:br>
              <a:rPr lang="en-US" dirty="0"/>
            </a:br>
            <a:r>
              <a:rPr lang="en-US" dirty="0"/>
              <a:t>After login, operations like control and calibration are performed.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A3B8F-DE73-A086-E723-3D85D4860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233220"/>
            <a:ext cx="5143500" cy="439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88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8F1D-F79F-FE6B-11C2-0B21ADFD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3934C9-BBF5-EF24-8D37-BD5C6FA17C8B}"/>
              </a:ext>
            </a:extLst>
          </p:cNvPr>
          <p:cNvSpPr txBox="1">
            <a:spLocks/>
          </p:cNvSpPr>
          <p:nvPr/>
        </p:nvSpPr>
        <p:spPr>
          <a:xfrm>
            <a:off x="3385997" y="86602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spc="-10" dirty="0"/>
              <a:t>Inverse</a:t>
            </a:r>
            <a:r>
              <a:rPr lang="en-IN" sz="3200" b="1" spc="-95" dirty="0"/>
              <a:t> </a:t>
            </a:r>
            <a:r>
              <a:rPr lang="en-IN" sz="3200" b="1" dirty="0"/>
              <a:t>Kinematics</a:t>
            </a:r>
            <a:r>
              <a:rPr lang="en-IN" sz="3200" b="1" spc="-70" dirty="0"/>
              <a:t> </a:t>
            </a:r>
            <a:r>
              <a:rPr lang="en-IN" sz="3200" b="1" dirty="0"/>
              <a:t>-</a:t>
            </a:r>
            <a:r>
              <a:rPr lang="en-IN" sz="3200" b="1" spc="-90" dirty="0"/>
              <a:t> </a:t>
            </a:r>
            <a:r>
              <a:rPr lang="en-IN" sz="3200" b="1" spc="-10" dirty="0"/>
              <a:t>Position</a:t>
            </a:r>
            <a:endParaRPr lang="en-IN" sz="3200" b="1" dirty="0"/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BA711020-B08F-4D01-D5A9-8E5D9A8E6D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" y="911569"/>
            <a:ext cx="5349240" cy="4666271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3100693-58A9-6E11-E42D-98BCEB6DF68A}"/>
              </a:ext>
            </a:extLst>
          </p:cNvPr>
          <p:cNvSpPr txBox="1"/>
          <p:nvPr/>
        </p:nvSpPr>
        <p:spPr>
          <a:xfrm>
            <a:off x="5563987" y="911569"/>
            <a:ext cx="6628013" cy="3790781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2100" indent="-2286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292100" algn="l"/>
              </a:tabLst>
            </a:pP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For</a:t>
            </a:r>
            <a:r>
              <a:rPr sz="2400" b="1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position</a:t>
            </a:r>
            <a:r>
              <a:rPr sz="2400" b="1" spc="-6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3</a:t>
            </a:r>
            <a:r>
              <a:rPr sz="2400" b="1" spc="-7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joints</a:t>
            </a:r>
            <a:r>
              <a:rPr sz="2400" b="1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are</a:t>
            </a:r>
            <a:r>
              <a:rPr sz="2400" b="1" spc="-2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66666"/>
                </a:solidFill>
                <a:latin typeface="Calibri"/>
                <a:cs typeface="Calibri"/>
              </a:rPr>
              <a:t>responsible</a:t>
            </a:r>
            <a:endParaRPr sz="2400" b="1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615"/>
              </a:spcBef>
              <a:buSzPct val="128571"/>
              <a:buFont typeface="Arial MT"/>
              <a:buChar char="•"/>
              <a:tabLst>
                <a:tab pos="292100" algn="l"/>
              </a:tabLst>
            </a:pP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Joint1,</a:t>
            </a:r>
            <a:r>
              <a:rPr sz="2000" spc="-6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joint2,</a:t>
            </a:r>
            <a:r>
              <a:rPr sz="2000" spc="-6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666666"/>
                </a:solidFill>
                <a:latin typeface="Calibri"/>
                <a:cs typeface="Calibri"/>
              </a:rPr>
              <a:t>joint3</a:t>
            </a:r>
            <a:endParaRPr sz="2000" dirty="0">
              <a:latin typeface="Calibri"/>
              <a:cs typeface="Calibri"/>
            </a:endParaRPr>
          </a:p>
          <a:p>
            <a:pPr marL="292100" marR="17780" indent="-229235">
              <a:lnSpc>
                <a:spcPts val="3170"/>
              </a:lnSpc>
              <a:spcBef>
                <a:spcPts val="30"/>
              </a:spcBef>
              <a:buFont typeface="Arial MT"/>
              <a:buChar char="•"/>
              <a:tabLst>
                <a:tab pos="292100" algn="l"/>
              </a:tabLst>
            </a:pP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Using</a:t>
            </a:r>
            <a:r>
              <a:rPr sz="2400" b="1" spc="-4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66666"/>
                </a:solidFill>
                <a:latin typeface="Calibri"/>
                <a:cs typeface="Calibri"/>
              </a:rPr>
              <a:t>trigonometry</a:t>
            </a:r>
            <a:r>
              <a:rPr sz="2400" b="1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cosine</a:t>
            </a:r>
            <a:r>
              <a:rPr sz="2400" b="1" spc="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laws</a:t>
            </a:r>
            <a:r>
              <a:rPr sz="2400" b="1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these</a:t>
            </a:r>
            <a:r>
              <a:rPr sz="2400" b="1" spc="3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angles</a:t>
            </a:r>
            <a:r>
              <a:rPr sz="2400" b="1" spc="-7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66666"/>
                </a:solidFill>
                <a:latin typeface="Calibri"/>
                <a:cs typeface="Calibri"/>
              </a:rPr>
              <a:t>are </a:t>
            </a:r>
            <a:r>
              <a:rPr sz="2400" b="1" spc="-10" dirty="0">
                <a:solidFill>
                  <a:srgbClr val="666666"/>
                </a:solidFill>
                <a:latin typeface="Calibri"/>
                <a:cs typeface="Calibri"/>
              </a:rPr>
              <a:t>calculated</a:t>
            </a:r>
            <a:endParaRPr sz="2400" b="1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92100" algn="l"/>
              </a:tabLst>
            </a:pP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66666"/>
                </a:solidFill>
                <a:latin typeface="Calibri"/>
                <a:cs typeface="Calibri"/>
              </a:rPr>
              <a:t>calculated</a:t>
            </a:r>
            <a:r>
              <a:rPr sz="2400" b="1" spc="-5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joint</a:t>
            </a:r>
            <a:r>
              <a:rPr sz="2400" b="1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angles</a:t>
            </a:r>
            <a:r>
              <a:rPr sz="2400" b="1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are</a:t>
            </a:r>
            <a:r>
              <a:rPr sz="2400" b="1" spc="-4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66666"/>
                </a:solidFill>
                <a:latin typeface="Calibri"/>
                <a:cs typeface="Calibri"/>
              </a:rPr>
              <a:t>as</a:t>
            </a:r>
            <a:r>
              <a:rPr sz="2400" b="1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66666"/>
                </a:solidFill>
                <a:latin typeface="Calibri"/>
                <a:cs typeface="Calibri"/>
              </a:rPr>
              <a:t>follows:</a:t>
            </a:r>
            <a:endParaRPr sz="2400" b="1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615"/>
              </a:spcBef>
              <a:buSzPct val="128571"/>
              <a:buFont typeface="Arial MT"/>
              <a:buChar char="•"/>
              <a:tabLst>
                <a:tab pos="292100" algn="l"/>
              </a:tabLst>
            </a:pP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r1</a:t>
            </a:r>
            <a:r>
              <a:rPr sz="2400"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lang="en-IN" sz="2400" dirty="0">
                <a:solidFill>
                  <a:srgbClr val="666666"/>
                </a:solidFill>
                <a:latin typeface="Calibri"/>
                <a:cs typeface="Calibri"/>
              </a:rPr>
              <a:t>= </a:t>
            </a:r>
            <a:r>
              <a:rPr sz="2400" dirty="0">
                <a:solidFill>
                  <a:srgbClr val="666666"/>
                </a:solidFill>
                <a:latin typeface="Calibri"/>
                <a:cs typeface="Calibri"/>
              </a:rPr>
              <a:t>(</a:t>
            </a:r>
            <a:r>
              <a:rPr sz="2000" dirty="0">
                <a:latin typeface="Arial MT"/>
                <a:cs typeface="Arial MT"/>
              </a:rPr>
              <a:t>z</a:t>
            </a:r>
            <a:r>
              <a:rPr sz="2000" baseline="29914" dirty="0">
                <a:latin typeface="Arial MT"/>
                <a:cs typeface="Arial MT"/>
              </a:rPr>
              <a:t>2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2000" baseline="29914" dirty="0">
                <a:latin typeface="Arial MT"/>
                <a:cs typeface="Arial MT"/>
              </a:rPr>
              <a:t>2</a:t>
            </a:r>
            <a:r>
              <a:rPr sz="2000" spc="165" baseline="29914" dirty="0"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666666"/>
                </a:solidFill>
                <a:latin typeface="Calibri"/>
                <a:cs typeface="Calibri"/>
              </a:rPr>
              <a:t>)</a:t>
            </a:r>
            <a:r>
              <a:rPr sz="2000" spc="-30" baseline="29914" dirty="0">
                <a:latin typeface="Arial MT"/>
                <a:cs typeface="Arial MT"/>
              </a:rPr>
              <a:t>1/2</a:t>
            </a:r>
            <a:endParaRPr sz="2000" baseline="29914" dirty="0">
              <a:latin typeface="Arial MT"/>
              <a:cs typeface="Arial MT"/>
            </a:endParaRPr>
          </a:p>
          <a:p>
            <a:pPr marL="292100" indent="-228600">
              <a:lnSpc>
                <a:spcPct val="100000"/>
              </a:lnSpc>
              <a:spcBef>
                <a:spcPts val="1060"/>
              </a:spcBef>
              <a:buSzPct val="128571"/>
              <a:buFont typeface="Arial MT"/>
              <a:buChar char="•"/>
              <a:tabLst>
                <a:tab pos="292100" algn="l"/>
              </a:tabLst>
            </a:pP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Theta2</a:t>
            </a:r>
            <a:r>
              <a:rPr sz="2000"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=</a:t>
            </a:r>
            <a:r>
              <a:rPr sz="2000" spc="-3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666666"/>
                </a:solidFill>
                <a:latin typeface="Calibri"/>
                <a:cs typeface="Calibri"/>
              </a:rPr>
              <a:t>tan-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1(z/x)</a:t>
            </a:r>
            <a:r>
              <a:rPr sz="2000" spc="-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sz="2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666666"/>
                </a:solidFill>
                <a:latin typeface="Calibri"/>
                <a:cs typeface="Calibri"/>
              </a:rPr>
              <a:t>cos-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1((</a:t>
            </a:r>
            <a:r>
              <a:rPr dirty="0">
                <a:latin typeface="Arial MT"/>
                <a:cs typeface="Arial MT"/>
              </a:rPr>
              <a:t>a1</a:t>
            </a:r>
            <a:r>
              <a:rPr baseline="29914" dirty="0">
                <a:latin typeface="Arial MT"/>
                <a:cs typeface="Arial MT"/>
              </a:rPr>
              <a:t>2</a:t>
            </a:r>
            <a:r>
              <a:rPr spc="-30" baseline="29914" dirty="0">
                <a:latin typeface="Arial MT"/>
                <a:cs typeface="Arial MT"/>
              </a:rPr>
              <a:t> </a:t>
            </a:r>
            <a:r>
              <a:rPr dirty="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dirty="0">
                <a:latin typeface="Arial MT"/>
                <a:cs typeface="Arial MT"/>
              </a:rPr>
              <a:t>r1</a:t>
            </a:r>
            <a:r>
              <a:rPr baseline="29914" dirty="0">
                <a:latin typeface="Arial MT"/>
                <a:cs typeface="Arial MT"/>
              </a:rPr>
              <a:t>2</a:t>
            </a:r>
            <a:r>
              <a:rPr spc="172" baseline="29914" dirty="0">
                <a:latin typeface="Arial MT"/>
                <a:cs typeface="Arial MT"/>
              </a:rPr>
              <a:t> </a:t>
            </a:r>
            <a:r>
              <a:rPr dirty="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>
                <a:latin typeface="Arial MT"/>
                <a:cs typeface="Arial MT"/>
              </a:rPr>
              <a:t>a22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/</a:t>
            </a:r>
            <a:r>
              <a:rPr sz="2000" spc="-2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666666"/>
                </a:solidFill>
                <a:latin typeface="Calibri"/>
                <a:cs typeface="Calibri"/>
              </a:rPr>
              <a:t>2a1r1)</a:t>
            </a:r>
            <a:endParaRPr sz="2000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625"/>
              </a:spcBef>
              <a:buSzPct val="128571"/>
              <a:buFont typeface="Arial MT"/>
              <a:buChar char="•"/>
              <a:tabLst>
                <a:tab pos="292100" algn="l"/>
              </a:tabLst>
            </a:pP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Theta3</a:t>
            </a:r>
            <a:r>
              <a:rPr sz="2000" spc="-3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=</a:t>
            </a:r>
            <a:r>
              <a:rPr sz="2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sz="2000" spc="-10" dirty="0">
                <a:solidFill>
                  <a:srgbClr val="666666"/>
                </a:solidFill>
                <a:latin typeface="Calibri"/>
                <a:cs typeface="Calibri"/>
              </a:rPr>
              <a:t>(cos-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1((</a:t>
            </a:r>
            <a:r>
              <a:rPr dirty="0">
                <a:latin typeface="Arial MT"/>
                <a:cs typeface="Arial MT"/>
              </a:rPr>
              <a:t>a1</a:t>
            </a:r>
            <a:r>
              <a:rPr baseline="29914" dirty="0">
                <a:latin typeface="Arial MT"/>
                <a:cs typeface="Arial MT"/>
              </a:rPr>
              <a:t>2</a:t>
            </a:r>
            <a:r>
              <a:rPr spc="-30" baseline="29914" dirty="0">
                <a:latin typeface="Arial MT"/>
                <a:cs typeface="Arial MT"/>
              </a:rPr>
              <a:t> </a:t>
            </a:r>
            <a:r>
              <a:rPr dirty="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dirty="0">
                <a:latin typeface="Arial MT"/>
                <a:cs typeface="Arial MT"/>
              </a:rPr>
              <a:t>a2</a:t>
            </a:r>
            <a:r>
              <a:rPr baseline="29914" dirty="0">
                <a:latin typeface="Arial MT"/>
                <a:cs typeface="Arial MT"/>
              </a:rPr>
              <a:t>2</a:t>
            </a:r>
            <a:r>
              <a:rPr spc="150" baseline="29914" dirty="0">
                <a:latin typeface="Arial MT"/>
                <a:cs typeface="Arial MT"/>
              </a:rPr>
              <a:t> </a:t>
            </a:r>
            <a:r>
              <a:rPr dirty="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spc="-3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>
                <a:latin typeface="Arial MT"/>
                <a:cs typeface="Arial MT"/>
              </a:rPr>
              <a:t>r22)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/</a:t>
            </a:r>
            <a:r>
              <a:rPr sz="2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2a1a2)</a:t>
            </a:r>
            <a:r>
              <a:rPr sz="2000" spc="-2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*180/3.14</a:t>
            </a:r>
            <a:r>
              <a:rPr sz="2000" spc="-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sz="2000" spc="-3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666666"/>
                </a:solidFill>
                <a:latin typeface="Calibri"/>
                <a:cs typeface="Calibri"/>
              </a:rPr>
              <a:t>90</a:t>
            </a:r>
            <a:endParaRPr sz="2000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625"/>
              </a:spcBef>
              <a:buSzPct val="128571"/>
              <a:buFont typeface="Arial MT"/>
              <a:buChar char="•"/>
              <a:tabLst>
                <a:tab pos="292100" algn="l"/>
              </a:tabLst>
            </a:pP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Theta1</a:t>
            </a:r>
            <a:r>
              <a:rPr sz="2000" spc="-2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6666"/>
                </a:solidFill>
                <a:latin typeface="Calibri"/>
                <a:cs typeface="Calibri"/>
              </a:rPr>
              <a:t>=</a:t>
            </a:r>
            <a:r>
              <a:rPr sz="2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666666"/>
                </a:solidFill>
                <a:latin typeface="Calibri"/>
                <a:cs typeface="Calibri"/>
              </a:rPr>
              <a:t>tan-1(y/x)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3838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C3DC6-5333-2264-E23C-4B0DB378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B7F652-3606-D269-8486-4A448197E0A2}"/>
              </a:ext>
            </a:extLst>
          </p:cNvPr>
          <p:cNvSpPr txBox="1">
            <a:spLocks/>
          </p:cNvSpPr>
          <p:nvPr/>
        </p:nvSpPr>
        <p:spPr>
          <a:xfrm>
            <a:off x="3267075" y="66797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spc="-10" dirty="0"/>
              <a:t>Simulation</a:t>
            </a:r>
            <a:endParaRPr lang="en-IN" sz="3200" b="1" dirty="0"/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96868897-B359-1B01-97EE-13008F39EE34}"/>
              </a:ext>
            </a:extLst>
          </p:cNvPr>
          <p:cNvGrpSpPr/>
          <p:nvPr/>
        </p:nvGrpSpPr>
        <p:grpSpPr>
          <a:xfrm>
            <a:off x="1289760" y="1256130"/>
            <a:ext cx="5810250" cy="2495550"/>
            <a:chOff x="948689" y="5887211"/>
            <a:chExt cx="5810250" cy="2495550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9CCB2486-0ACA-548F-B1CA-18A562C75D1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8689" y="5925311"/>
              <a:ext cx="2600325" cy="2457450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3AD643F5-CD0B-3E0F-EA1B-5F59FE783D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9014" y="5887211"/>
              <a:ext cx="3209925" cy="2495550"/>
            </a:xfrm>
            <a:prstGeom prst="rect">
              <a:avLst/>
            </a:prstGeom>
          </p:spPr>
        </p:pic>
      </p:grpSp>
      <p:sp>
        <p:nvSpPr>
          <p:cNvPr id="6" name="object 2">
            <a:extLst>
              <a:ext uri="{FF2B5EF4-FFF2-40B4-BE49-F238E27FC236}">
                <a16:creationId xmlns:a16="http://schemas.microsoft.com/office/drawing/2014/main" id="{CA9F8693-F561-D361-84B2-53330621A4BF}"/>
              </a:ext>
            </a:extLst>
          </p:cNvPr>
          <p:cNvSpPr txBox="1"/>
          <p:nvPr/>
        </p:nvSpPr>
        <p:spPr>
          <a:xfrm>
            <a:off x="1289760" y="3789780"/>
            <a:ext cx="6477000" cy="2525691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To implement a basic simulation setup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Save robotic arm positions and movements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Manipulate the robot to perform pick-and-place operations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Repeat the same movement based on saved positions and commands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852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99CB-650F-3912-678A-743BEF4A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1ACFCBE-D772-C8CA-BBEB-E8D30B1DA421}"/>
              </a:ext>
            </a:extLst>
          </p:cNvPr>
          <p:cNvSpPr txBox="1">
            <a:spLocks/>
          </p:cNvSpPr>
          <p:nvPr/>
        </p:nvSpPr>
        <p:spPr>
          <a:xfrm>
            <a:off x="3385997" y="86602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spc="-10" dirty="0"/>
              <a:t>Prototyping</a:t>
            </a:r>
            <a:r>
              <a:rPr lang="en-IN" sz="3200" b="1" spc="-75" dirty="0"/>
              <a:t> </a:t>
            </a:r>
            <a:r>
              <a:rPr lang="en-IN" sz="3200" b="1" spc="-10" dirty="0"/>
              <a:t>Design</a:t>
            </a:r>
            <a:endParaRPr lang="en-IN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8709AEF-4513-2F1D-F488-C5C55FA43F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781" y="1272540"/>
            <a:ext cx="10642282" cy="48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168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1E19D-A518-B8BC-53A7-74CAE37F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0A4B68-1B87-F107-8A82-72948C4D28EE}"/>
              </a:ext>
            </a:extLst>
          </p:cNvPr>
          <p:cNvSpPr txBox="1">
            <a:spLocks/>
          </p:cNvSpPr>
          <p:nvPr/>
        </p:nvSpPr>
        <p:spPr>
          <a:xfrm>
            <a:off x="3385997" y="86602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3D</a:t>
            </a:r>
            <a:r>
              <a:rPr lang="en-IN" sz="3200" b="1" spc="-105" dirty="0"/>
              <a:t> </a:t>
            </a:r>
            <a:r>
              <a:rPr lang="en-IN" sz="3200" b="1" dirty="0"/>
              <a:t>Printing</a:t>
            </a:r>
            <a:r>
              <a:rPr lang="en-IN" sz="3200" b="1" spc="-105" dirty="0"/>
              <a:t> </a:t>
            </a:r>
            <a:r>
              <a:rPr lang="en-IN" sz="3200" b="1" spc="-20" dirty="0"/>
              <a:t>Parts</a:t>
            </a:r>
            <a:endParaRPr lang="en-IN" sz="3200" b="1" dirty="0"/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7BB5ACCF-DD0E-8671-CF78-21C5A86CDA60}"/>
              </a:ext>
            </a:extLst>
          </p:cNvPr>
          <p:cNvGrpSpPr/>
          <p:nvPr/>
        </p:nvGrpSpPr>
        <p:grpSpPr>
          <a:xfrm>
            <a:off x="917117" y="685800"/>
            <a:ext cx="10357767" cy="5638800"/>
            <a:chOff x="-102603" y="2721482"/>
            <a:chExt cx="9363093" cy="4385733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F0A24E17-8780-89E6-B2E2-AC37AD4627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02603" y="2721482"/>
              <a:ext cx="4463578" cy="4385733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88B9DDD-795B-1D3E-365D-95C6BCEBC50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6912" y="2721482"/>
              <a:ext cx="4463578" cy="4385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7903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DDDD5-4A6A-D08A-8F93-D1D51CCB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D17516-3652-ADF1-47C9-9D8587638F95}"/>
              </a:ext>
            </a:extLst>
          </p:cNvPr>
          <p:cNvSpPr txBox="1">
            <a:spLocks/>
          </p:cNvSpPr>
          <p:nvPr/>
        </p:nvSpPr>
        <p:spPr>
          <a:xfrm>
            <a:off x="3267075" y="205572"/>
            <a:ext cx="565785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US" sz="3200" b="1" dirty="0"/>
              <a:t>Use Cases and Real-World Applications</a:t>
            </a:r>
            <a:endParaRPr lang="en-IN" sz="32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E696AAE-49B9-FBC7-C7A2-384008840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87" y="871135"/>
            <a:ext cx="6303329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Industrial pick-and-place operations in factories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Sorting products in warehouses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packaging systems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Laboratory sample handling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Restaurant food serving and object delivery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 medicine or tool handling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Loading and unloading small items on conveyor belts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553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1593D-4536-28F0-E25B-4D171565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A0EB01-B4E4-1AAD-0734-C6CE486E865F}"/>
              </a:ext>
            </a:extLst>
          </p:cNvPr>
          <p:cNvSpPr txBox="1">
            <a:spLocks/>
          </p:cNvSpPr>
          <p:nvPr/>
        </p:nvSpPr>
        <p:spPr>
          <a:xfrm>
            <a:off x="3267074" y="166168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dirty="0"/>
              <a:t>Result</a:t>
            </a:r>
            <a:r>
              <a:rPr lang="en-IN" sz="3200" b="1" spc="-70" dirty="0"/>
              <a:t> </a:t>
            </a:r>
            <a:r>
              <a:rPr lang="en-IN" sz="3200" b="1" dirty="0"/>
              <a:t>and</a:t>
            </a:r>
            <a:r>
              <a:rPr lang="en-IN" sz="3200" b="1" spc="-65" dirty="0"/>
              <a:t> </a:t>
            </a:r>
            <a:r>
              <a:rPr lang="en-IN" sz="3200" b="1" spc="-10" dirty="0"/>
              <a:t>conclusion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D7908-1094-D2E9-80B5-F86A0632C211}"/>
              </a:ext>
            </a:extLst>
          </p:cNvPr>
          <p:cNvSpPr txBox="1"/>
          <p:nvPr/>
        </p:nvSpPr>
        <p:spPr>
          <a:xfrm>
            <a:off x="817952" y="609525"/>
            <a:ext cx="10556095" cy="3737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robotic arm control system was successfully implemented.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robotic arm can perform pick-and-place operations using saved positions.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system can repeat movements automatically for similar tasks.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project combines robotics, web control, electronics, and microcontroller programming.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This project demonstrates the feasibility of automated robotic arm operation.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You can find on </a:t>
            </a:r>
            <a:r>
              <a:rPr lang="en-US" sz="2000" dirty="0">
                <a:solidFill>
                  <a:srgbClr val="0070C0"/>
                </a:solidFill>
              </a:rPr>
              <a:t>https://github.com/prijenbalar/Robot-Vision </a:t>
            </a:r>
            <a:r>
              <a:rPr lang="en-US" sz="2000" dirty="0"/>
              <a:t>with the code and documentation.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76267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1DF93-D29A-608A-2723-82F428B9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602896-100D-B290-F8ED-012A0EB692FD}"/>
              </a:ext>
            </a:extLst>
          </p:cNvPr>
          <p:cNvSpPr txBox="1">
            <a:spLocks/>
          </p:cNvSpPr>
          <p:nvPr/>
        </p:nvSpPr>
        <p:spPr>
          <a:xfrm>
            <a:off x="3385997" y="86602"/>
            <a:ext cx="565785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F562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3200" b="1" spc="-20" dirty="0"/>
              <a:t>References</a:t>
            </a:r>
            <a:endParaRPr lang="en-IN" sz="3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CA10B1-D364-A693-4CEF-8FCD22F4B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991" y="895694"/>
            <a:ext cx="1008801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Niryo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Robotic Arm Website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https://niryo.com/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Coppelia Robotics Simulation Software Website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https://www.coppeliarobotics.com/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Inverse Kinematics References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 for Inverse Kinematics for 6-DOF Robot Arms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https://automaticaddison.com/the-ultimate-guide-to-inverse-kinematics-for-6dof-robot-arms/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Kinematics Analysis of 6-DoF Articulated Robot with Spherical Wrist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Inverse Kinematics for 6-DOF Manipulator by the Method of Sequential Retrieval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 I/O Reference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Repository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https://www.youtube.com/watch?v=t5Bo1Je9EmE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https://github.com/prijenbalar/Robot-Vision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475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1D06B-4E3E-3543-573F-42A4E6698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8D97C90F-D584-EB69-970D-0DF0CDBEB9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8652" y="682850"/>
            <a:ext cx="4279392" cy="4279273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BB884D36-7017-7B91-15E1-1AB7DDE6C916}"/>
              </a:ext>
            </a:extLst>
          </p:cNvPr>
          <p:cNvSpPr txBox="1"/>
          <p:nvPr/>
        </p:nvSpPr>
        <p:spPr>
          <a:xfrm>
            <a:off x="2660952" y="5064617"/>
            <a:ext cx="6870095" cy="9829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9485" marR="5080" indent="-947419">
              <a:lnSpc>
                <a:spcPct val="137600"/>
              </a:lnSpc>
              <a:spcBef>
                <a:spcPts val="95"/>
              </a:spcBef>
            </a:pPr>
            <a:r>
              <a:rPr lang="en-US" sz="2400" dirty="0"/>
              <a:t>Scan to view the simulation video. Feel free to ask any questions. Happy to help 😃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243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9C296-50CE-A016-50A7-39FA1C5D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9FAE761-4A53-A8BE-D21F-E395DD73C40A}"/>
              </a:ext>
            </a:extLst>
          </p:cNvPr>
          <p:cNvSpPr txBox="1"/>
          <p:nvPr/>
        </p:nvSpPr>
        <p:spPr>
          <a:xfrm>
            <a:off x="4934902" y="407034"/>
            <a:ext cx="232219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385522"/>
                </a:solidFill>
                <a:latin typeface="Calibri"/>
                <a:cs typeface="Calibri"/>
              </a:rPr>
              <a:t>Happy</a:t>
            </a:r>
            <a:r>
              <a:rPr sz="2400" spc="-90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85522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85522"/>
                </a:solidFill>
                <a:latin typeface="Calibri"/>
                <a:cs typeface="Calibri"/>
              </a:rPr>
              <a:t>reply</a:t>
            </a:r>
            <a:r>
              <a:rPr sz="2400" spc="-60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385522"/>
                </a:solidFill>
                <a:latin typeface="Segoe UI Emoji"/>
                <a:cs typeface="Segoe UI Emoji"/>
              </a:rPr>
              <a:t>😃</a:t>
            </a:r>
            <a:endParaRPr sz="2400" dirty="0">
              <a:latin typeface="Segoe UI Emoji"/>
              <a:cs typeface="Segoe UI Emoji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EBC300FC-95B3-1CA6-F6E1-6F832B5EF7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5168" y="1089554"/>
            <a:ext cx="2099468" cy="89412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03D93D56-CDDA-7CAC-0E3A-56FD55EA00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7149" y="1089554"/>
            <a:ext cx="1699895" cy="1123772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D102A324-C7AE-143D-D1B7-6B5D426B6F7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2902" y="2471851"/>
            <a:ext cx="1524000" cy="1914298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5B581EB6-D14F-8F64-444F-483DBE2ADF7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999" y="2959805"/>
            <a:ext cx="2409190" cy="1208277"/>
          </a:xfrm>
          <a:prstGeom prst="rect">
            <a:avLst/>
          </a:prstGeom>
        </p:spPr>
      </p:pic>
      <p:pic>
        <p:nvPicPr>
          <p:cNvPr id="9" name="object 7">
            <a:extLst>
              <a:ext uri="{FF2B5EF4-FFF2-40B4-BE49-F238E27FC236}">
                <a16:creationId xmlns:a16="http://schemas.microsoft.com/office/drawing/2014/main" id="{B549057B-4866-C4C2-8E24-FC89139B735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78046" y="4874326"/>
            <a:ext cx="2018856" cy="1061922"/>
          </a:xfrm>
          <a:prstGeom prst="rect">
            <a:avLst/>
          </a:prstGeom>
        </p:spPr>
      </p:pic>
      <p:pic>
        <p:nvPicPr>
          <p:cNvPr id="10" name="object 8">
            <a:extLst>
              <a:ext uri="{FF2B5EF4-FFF2-40B4-BE49-F238E27FC236}">
                <a16:creationId xmlns:a16="http://schemas.microsoft.com/office/drawing/2014/main" id="{5A9859FF-17AE-B635-C0A5-252E70F3D60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95100" y="4726701"/>
            <a:ext cx="1072896" cy="120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2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754</Words>
  <Application>Microsoft Office PowerPoint</Application>
  <PresentationFormat>Widescreen</PresentationFormat>
  <Paragraphs>119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MT</vt:lpstr>
      <vt:lpstr>Calibri</vt:lpstr>
      <vt:lpstr>Calibri Light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KETi 0008</dc:creator>
  <cp:lastModifiedBy>Harshil Shah</cp:lastModifiedBy>
  <cp:revision>6</cp:revision>
  <dcterms:created xsi:type="dcterms:W3CDTF">2026-03-05T08:34:19Z</dcterms:created>
  <dcterms:modified xsi:type="dcterms:W3CDTF">2026-04-08T02:50:08Z</dcterms:modified>
</cp:coreProperties>
</file>